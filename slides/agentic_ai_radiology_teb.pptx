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975c47c6e647e5" /><Relationship Type="http://schemas.openxmlformats.org/officeDocument/2006/relationships/extended-properties" Target="/docProps/app.xml" Id="Rd56352c5b47d4183" /><Relationship Type="http://schemas.openxmlformats.org/officeDocument/2006/relationships/officeDocument" Target="/ppt/presentation.xml" Id="R83dd74c1116a4d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5e6444967e4e53"/>
  </p:sldMasterIdLst>
  <p:notesMasterIdLst>
    <p:notesMasterId xmlns:r="http://schemas.openxmlformats.org/officeDocument/2006/relationships" r:id="Rf90ac8b0ccfd41fd"/>
  </p:notesMasterIdLst>
  <p:sldIdLst>
    <p:sldId xmlns:r="http://schemas.openxmlformats.org/officeDocument/2006/relationships" id="256" r:id="R77d04d66e87946f1"/>
    <p:sldId xmlns:r="http://schemas.openxmlformats.org/officeDocument/2006/relationships" id="257" r:id="R97b32667b6524946"/>
    <p:sldId xmlns:r="http://schemas.openxmlformats.org/officeDocument/2006/relationships" id="258" r:id="Re7af139205b34b24"/>
    <p:sldId xmlns:r="http://schemas.openxmlformats.org/officeDocument/2006/relationships" id="259" r:id="R3cc910217ef54a50"/>
    <p:sldId xmlns:r="http://schemas.openxmlformats.org/officeDocument/2006/relationships" id="260" r:id="R26541be3df2b4107"/>
    <p:sldId xmlns:r="http://schemas.openxmlformats.org/officeDocument/2006/relationships" id="261" r:id="R23f837dd5a4e4dc9"/>
    <p:sldId xmlns:r="http://schemas.openxmlformats.org/officeDocument/2006/relationships" id="262" r:id="Rc300ce2ede2f4856"/>
    <p:sldId xmlns:r="http://schemas.openxmlformats.org/officeDocument/2006/relationships" id="263" r:id="R8b57c0aee0474c69"/>
    <p:sldId xmlns:r="http://schemas.openxmlformats.org/officeDocument/2006/relationships" id="264" r:id="Rc58031c7f95c47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18269d3ddc40f0" /><Relationship Type="http://schemas.openxmlformats.org/officeDocument/2006/relationships/slideMaster" Target="/ppt/slideMasters/slideMaster1.xml" Id="R395e6444967e4e53" /><Relationship Type="http://schemas.openxmlformats.org/officeDocument/2006/relationships/notesMaster" Target="/ppt/notesMasters/notesMaster1.xml" Id="Rf90ac8b0ccfd41fd" /><Relationship Type="http://schemas.openxmlformats.org/officeDocument/2006/relationships/presProps" Target="/ppt/presProps.xml" Id="Rc46d6ae875954c66" /><Relationship Type="http://schemas.openxmlformats.org/officeDocument/2006/relationships/tableStyles" Target="/ppt/tableStyles.xml" Id="Rafa2ed88562a4b06" /><Relationship Type="http://schemas.openxmlformats.org/officeDocument/2006/relationships/slide" Target="/ppt/slides/slide1.xml" Id="R77d04d66e87946f1" /><Relationship Type="http://schemas.openxmlformats.org/officeDocument/2006/relationships/slide" Target="/ppt/slides/slide2.xml" Id="R97b32667b6524946" /><Relationship Type="http://schemas.openxmlformats.org/officeDocument/2006/relationships/slide" Target="/ppt/slides/slide3.xml" Id="Re7af139205b34b24" /><Relationship Type="http://schemas.openxmlformats.org/officeDocument/2006/relationships/slide" Target="/ppt/slides/slide4.xml" Id="R3cc910217ef54a50" /><Relationship Type="http://schemas.openxmlformats.org/officeDocument/2006/relationships/slide" Target="/ppt/slides/slide5.xml" Id="R26541be3df2b4107" /><Relationship Type="http://schemas.openxmlformats.org/officeDocument/2006/relationships/slide" Target="/ppt/slides/slide6.xml" Id="R23f837dd5a4e4dc9" /><Relationship Type="http://schemas.openxmlformats.org/officeDocument/2006/relationships/slide" Target="/ppt/slides/slide7.xml" Id="Rc300ce2ede2f4856" /><Relationship Type="http://schemas.openxmlformats.org/officeDocument/2006/relationships/slide" Target="/ppt/slides/slide8.xml" Id="R8b57c0aee0474c69" /><Relationship Type="http://schemas.openxmlformats.org/officeDocument/2006/relationships/slide" Target="/ppt/slides/slide9.xml" Id="Rc58031c7f95c47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6ac501116042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d9db2c96b74343" /><Relationship Type="http://schemas.openxmlformats.org/officeDocument/2006/relationships/notesMaster" Target="/ppt/notesMasters/notesMaster1.xml" Id="R29f895487e7246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fbb4d52f8b4fae" /><Relationship Type="http://schemas.openxmlformats.org/officeDocument/2006/relationships/notesMaster" Target="/ppt/notesMasters/notesMaster1.xml" Id="R8524758d0c6549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4527c46b124bed" /><Relationship Type="http://schemas.openxmlformats.org/officeDocument/2006/relationships/notesMaster" Target="/ppt/notesMasters/notesMaster1.xml" Id="R4ed2fd70764442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7cbee45fa04146" /><Relationship Type="http://schemas.openxmlformats.org/officeDocument/2006/relationships/notesMaster" Target="/ppt/notesMasters/notesMaster1.xml" Id="R15bb7abac52247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5609defc1447ef" /><Relationship Type="http://schemas.openxmlformats.org/officeDocument/2006/relationships/notesMaster" Target="/ppt/notesMasters/notesMaster1.xml" Id="Rc0c8fb1b590340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121f3de6f54df3" /><Relationship Type="http://schemas.openxmlformats.org/officeDocument/2006/relationships/notesMaster" Target="/ppt/notesMasters/notesMaster1.xml" Id="R031f0445cc8946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e8d54a21cd4588" /><Relationship Type="http://schemas.openxmlformats.org/officeDocument/2006/relationships/notesMaster" Target="/ppt/notesMasters/notesMaster1.xml" Id="R98d7a56fbef043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35c4a2387344de" /><Relationship Type="http://schemas.openxmlformats.org/officeDocument/2006/relationships/notesMaster" Target="/ppt/notesMasters/notesMaster1.xml" Id="Rc0f0b3b1d15c4b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5f964d3deaf42be" /><Relationship Type="http://schemas.openxmlformats.org/officeDocument/2006/relationships/notesMaster" Target="/ppt/notesMasters/notesMaster1.xml" Id="R857ee86b819c49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60–75 seconds. Open with the distinction between answering and completing. Do not discuss frameworks yet. The radiograph is visual context only and does not represent clinical 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https://www.thepythoncodingstack.com/p/2-anatomy-of-an-agent</a:t>
            </a:r>
          </a:p>
          <a:p xmlns:a="http://schemas.openxmlformats.org/drawingml/2006/main">
            <a:r>
              <a:t>- https://upload.wikimedia.org/wikipedia/commons/c/ca/Chest_radiograph_of_a_lung_with_Kerley_B_lines.jpg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75 seconds. Use the formula as vocabulary for the notebook. Emphasize that memory is state outside the model and that the loop needs a completion criterion.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https://www.thepythoncodingstack.com/p/2-anatomy-of-an-agent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75 seconds. This is the pivot for editorial reading: papers should describe the harness, not merely name the model. Point to the notebook's local tool, RAG, limits, and logs.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https://www.langchain.com/blog/the-anatomy-of-an-agent-harness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60 seconds. Read it fairly: CheXagent is a historical name, and the paper describes a foundation model. The editorial inference is that nomenclature does not replace a description of mechanism.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https://arxiv.org/abs/2401.12208</a:t>
            </a:r>
          </a:p>
          <a:p xmlns:a="http://schemas.openxmlformats.org/drawingml/2006/main">
            <a:r>
              <a:t>- https://arxiv.org/pdf/2401.12208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60 seconds. This is the first clearly agentic example in the set: tools are selected dynamically. Use the question to introduce trajectory, tool selection, and cost as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https://proceedings.mlr.press/v267/fallahpour25a.html</a:t>
            </a:r>
          </a:p>
          <a:p xmlns:a="http://schemas.openxmlformats.org/drawingml/2006/main">
            <a:r>
              <a:t>- https://raw.githubusercontent.com/mlresearch/v267/main/assets/fallahpour25a/fallahpour25a.pdf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60 seconds. The editorial strength is an inspectable trajectory. The caveat is not to confuse a long rationale with a causal explanation or evidence of safety.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https://proceedings.mlr.press/v315/zhang26b.html</a:t>
            </a:r>
          </a:p>
          <a:p xmlns:a="http://schemas.openxmlformats.org/drawingml/2006/main">
            <a:r>
              <a:t>- https://raw.githubusercontent.com/mlresearch/v315/main/assets/zhang26b/zhang26b.pdf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60 seconds. Emphasize that the final error depends on a chain of components. The site states that this is an unedited version of the accepted manuscript.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https://www.nature.com/articles/s41746-026-02994-8</a:t>
            </a:r>
          </a:p>
          <a:p xmlns:a="http://schemas.openxmlformats.org/drawingml/2006/main">
            <a:r>
              <a:t>- https://doi.org/10.1038/s41746-026-02994-8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60 seconds. CARE-X is a timely example of a hybrid frontier. Avoid treating it as a complete agent without examining measurement tool calling and its stop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https://arxiv.org/abs/2608.03890</a:t>
            </a:r>
          </a:p>
          <a:p xmlns:a="http://schemas.openxmlformats.org/drawingml/2006/main">
            <a:r>
              <a:t>- https://arxiv.org/pdf/2608.03890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90 seconds. Connect directly to the notebook: local tool, editorial prompt, CLAIM-grounded RAG, multimodal input, and guardrails. Then open Colab. This slide can remain on screen for final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https://www.langchain.com/blog/the-anatomy-of-an-agent-harness</a:t>
            </a:r>
          </a:p>
          <a:p xmlns:a="http://schemas.openxmlformats.org/drawingml/2006/main">
            <a:r>
              <a:t>- https://www.thepythoncodingstack.com/p/2-anatomy-of-an-agent</a:t>
            </a:r>
          </a:p>
          <a:p xmlns:a="http://schemas.openxmlformats.org/drawingml/2006/main">
            <a:r>
              <a:t>- https://doi.org/10.1148/ryai.240300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97716678554e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25e6d4df24405f" /><Relationship Type="http://schemas.openxmlformats.org/officeDocument/2006/relationships/slideLayout" Target="/ppt/slideLayouts/slideLayout1.xml" Id="Rc00a4f681c8745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0a4f681c8745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dcc7311a93421b" /><Relationship Type="http://schemas.openxmlformats.org/officeDocument/2006/relationships/image" Target="/ppt/media/image.jpeg" Id="Re2149d88f9d54089" /><Relationship Type="http://schemas.openxmlformats.org/officeDocument/2006/relationships/notesSlide" Target="/ppt/notesSlides/notesSlide1.xml" Id="R2bc3de92d93b4f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55d7268866467e" /><Relationship Type="http://schemas.openxmlformats.org/officeDocument/2006/relationships/image" Target="/ppt/media/image.png" Id="R2b8da337fb004758" /><Relationship Type="http://schemas.openxmlformats.org/officeDocument/2006/relationships/notesSlide" Target="/ppt/notesSlides/notesSlide2.xml" Id="R80708da63cd844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f16fdc03e4338" /><Relationship Type="http://schemas.openxmlformats.org/officeDocument/2006/relationships/image" Target="/ppt/media/image2.png" Id="Rdb4bc7df03314745" /><Relationship Type="http://schemas.openxmlformats.org/officeDocument/2006/relationships/notesSlide" Target="/ppt/notesSlides/notesSlide3.xml" Id="R90d82d966c9f46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d043a652b4874" /><Relationship Type="http://schemas.openxmlformats.org/officeDocument/2006/relationships/image" Target="/ppt/media/image3.png" Id="Rccf74448ce3247c0" /><Relationship Type="http://schemas.openxmlformats.org/officeDocument/2006/relationships/notesSlide" Target="/ppt/notesSlides/notesSlide4.xml" Id="R49b796c5d6874d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8d5a2719b4b44" /><Relationship Type="http://schemas.openxmlformats.org/officeDocument/2006/relationships/image" Target="/ppt/media/image4.png" Id="R989cad2c4db741f9" /><Relationship Type="http://schemas.openxmlformats.org/officeDocument/2006/relationships/notesSlide" Target="/ppt/notesSlides/notesSlide5.xml" Id="Rdae2b7c1258c40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0ff95baac41a1" /><Relationship Type="http://schemas.openxmlformats.org/officeDocument/2006/relationships/image" Target="/ppt/media/image5.png" Id="R47da57a9578040eb" /><Relationship Type="http://schemas.openxmlformats.org/officeDocument/2006/relationships/notesSlide" Target="/ppt/notesSlides/notesSlide6.xml" Id="Rb4170fd0361740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09404d6b34c4c" /><Relationship Type="http://schemas.openxmlformats.org/officeDocument/2006/relationships/image" Target="/ppt/media/image6.png" Id="Re13a7ab28bba402b" /><Relationship Type="http://schemas.openxmlformats.org/officeDocument/2006/relationships/notesSlide" Target="/ppt/notesSlides/notesSlide7.xml" Id="Rf304a8526d2b49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d4014d43a4950" /><Relationship Type="http://schemas.openxmlformats.org/officeDocument/2006/relationships/image" Target="/ppt/media/image7.png" Id="R175422b071b04488" /><Relationship Type="http://schemas.openxmlformats.org/officeDocument/2006/relationships/notesSlide" Target="/ppt/notesSlides/notesSlide8.xml" Id="R4150696aa9cb44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51fdb1b024af0" /><Relationship Type="http://schemas.openxmlformats.org/officeDocument/2006/relationships/notesSlide" Target="/ppt/notesSlides/notesSlide9.xml" Id="Re8dc63e9e60548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C2F684-0DD2-4D1A-93F2-E156ADC2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E75B6"/>
                </a:solidFill>
              </a:defRPr>
            </a:pPr>
            <a:r>
              <a:rPr sz="825" b="1" i="0">
                <a:solidFill>
                  <a:srgbClr val="2E75B6"/>
                </a:solidFill>
              </a:rPr>
              <a:t>TEB  |  THE 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03613-7787-436C-8003-CD1E4379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3A5F"/>
                </a:solidFill>
              </a:defRPr>
            </a:pPr>
            <a:r>
              <a:rPr sz="2550" b="1" i="0">
                <a:solidFill>
                  <a:srgbClr val="163A5F"/>
                </a:solidFill>
              </a:rPr>
              <a:t>An agent is not a better model. It is a system that pursues a goal.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004EC5-964C-41B3-AD5F-1E58491C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D9507A-E965-4BA7-8DAD-53FA3581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6727F"/>
                </a:solidFill>
              </a:defRPr>
            </a:pPr>
            <a:r>
              <a:rPr sz="900" b="1" i="0">
                <a:solidFill>
                  <a:srgbClr val="66727F"/>
                </a:solidFill>
              </a:rPr>
              <a:t>CHATBOT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39F3B6-71AD-4993-BB67-1D17A1F9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66727F"/>
                </a:solidFill>
              </a:defRPr>
            </a:pPr>
            <a:r>
              <a:rPr sz="2325" b="1" i="0">
                <a:solidFill>
                  <a:srgbClr val="66727F"/>
                </a:solidFill>
              </a:rPr>
              <a:t>produces an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93FC7C-F742-4371-A7CC-38665B88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66727F"/>
                </a:solidFill>
              </a:defRPr>
            </a:pPr>
            <a:r>
              <a:rPr sz="1275" b="0" i="1">
                <a:solidFill>
                  <a:srgbClr val="66727F"/>
                </a:solidFill>
              </a:rPr>
              <a:t>versus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EF183A-5EDE-4726-B655-04C7C395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E75B6"/>
                </a:solidFill>
              </a:defRPr>
            </a:pPr>
            <a:r>
              <a:rPr sz="900" b="1" i="0">
                <a:solidFill>
                  <a:srgbClr val="2E75B6"/>
                </a:solidFill>
              </a:rPr>
              <a:t>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9DE53D-B838-40BB-8EC0-351DEF91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63A5F"/>
                </a:solidFill>
              </a:defRPr>
            </a:pPr>
            <a:r>
              <a:rPr sz="2325" b="1" i="0">
                <a:solidFill>
                  <a:srgbClr val="163A5F"/>
                </a:solidFill>
              </a:rPr>
              <a:t>produces an outcome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3B7885-9E9D-47FF-BCA9-E28381FB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4238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252A31"/>
                </a:solidFill>
              </a:defRPr>
            </a:pPr>
            <a:r>
              <a:rPr sz="1725" b="0" i="0">
                <a:solidFill>
                  <a:srgbClr val="252A31"/>
                </a:solidFill>
              </a:rPr>
              <a:t>The difference is the loop: the system chooses actions, observes the result, and only then decides whether it is done.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675CB9-D17C-4181-913B-37A71585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485900"/>
            <a:ext cx="6096000" cy="4533900"/>
          </a:xfrm>
          <a:prstGeom xmlns:a="http://schemas.openxmlformats.org/drawingml/2006/main" prst="roundRect">
            <a:avLst>
              <a:gd name="adj" fmla="val 2101"/>
            </a:avLst>
          </a:prstGeom>
          <a:solidFill xmlns:a="http://schemas.openxmlformats.org/drawingml/2006/main">
            <a:srgbClr val="163A5F"/>
          </a:solidFill>
          <a:ln xmlns:a="http://schemas.openxmlformats.org/drawingml/2006/main" w="9525">
            <a:solidFill>
              <a:srgbClr val="163A5F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149d88f9d54089"/>
          <a:srcRect xmlns:a="http://schemas.openxmlformats.org/drawingml/2006/main" l="0" t="21701" r="0" b="217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81625" y="1590675"/>
            <a:ext cx="5886450" cy="29908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3E3974-4496-4F1D-844B-329FD4C3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581525"/>
            <a:ext cx="58864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473472-30AF-437B-A5E2-43B78736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49720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63A5F"/>
                </a:solidFill>
              </a:defRPr>
            </a:pPr>
            <a:r>
              <a:rPr sz="975" b="1" i="0">
                <a:solidFill>
                  <a:srgbClr val="163A5F"/>
                </a:solidFill>
              </a:rPr>
              <a:t>OBSERVE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93175C-7E3F-4396-A9A8-BB0B9D66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895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65B9E9"/>
                </a:solidFill>
              </a:defRPr>
            </a:pPr>
            <a:r>
              <a:rPr sz="1875" b="0" i="0">
                <a:solidFill>
                  <a:srgbClr val="65B9E9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E15D6D-B28A-4743-A3BC-6813B2D2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9720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63A5F"/>
                </a:solidFill>
              </a:defRPr>
            </a:pPr>
            <a:r>
              <a:rPr sz="975" b="1" i="0">
                <a:solidFill>
                  <a:srgbClr val="163A5F"/>
                </a:solidFill>
              </a:rPr>
              <a:t>DECIDE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8DC3AE-FB65-4CDC-8A6C-AB7702FB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895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65B9E9"/>
                </a:solidFill>
              </a:defRPr>
            </a:pPr>
            <a:r>
              <a:rPr sz="1875" b="0" i="0">
                <a:solidFill>
                  <a:srgbClr val="65B9E9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1C01D3-F454-41B2-AA58-B5FCFA32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9720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63A5F"/>
                </a:solidFill>
              </a:defRPr>
            </a:pPr>
            <a:r>
              <a:rPr sz="975" b="1" i="0">
                <a:solidFill>
                  <a:srgbClr val="163A5F"/>
                </a:solidFill>
              </a:rPr>
              <a:t>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2A6DA9-0BF4-43B4-8421-B11955DC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895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65B9E9"/>
                </a:solidFill>
              </a:defRPr>
            </a:pPr>
            <a:r>
              <a:rPr sz="1875" b="0" i="0">
                <a:solidFill>
                  <a:srgbClr val="65B9E9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DF9A6A-9286-47BF-809B-091F9514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9720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63A5F"/>
                </a:solidFill>
              </a:defRPr>
            </a:pPr>
            <a:r>
              <a:rPr sz="975" b="1" i="0">
                <a:solidFill>
                  <a:srgbClr val="163A5F"/>
                </a:solidFill>
              </a:rPr>
              <a:t>VERIFY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6C3FB4-0265-4BB3-B644-0D20BD86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895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65B9E9"/>
                </a:solidFill>
              </a:defRPr>
            </a:pPr>
            <a:r>
              <a:rPr sz="1875" b="0" i="0">
                <a:solidFill>
                  <a:srgbClr val="65B9E9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5DF966-1E2A-403B-9BD0-B78BCD93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97205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F7668"/>
                </a:solidFill>
              </a:defRPr>
            </a:pPr>
            <a:r>
              <a:rPr sz="975" b="1" i="0">
                <a:solidFill>
                  <a:srgbClr val="2F7668"/>
                </a:solidFill>
              </a:rPr>
              <a:t>STOP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926DCC-BCE6-4E5D-B16A-5A55720C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5391150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E75B6"/>
                </a:solidFill>
              </a:defRPr>
            </a:pPr>
            <a:r>
              <a:rPr sz="1275" b="1" i="0">
                <a:solidFill>
                  <a:srgbClr val="2E75B6"/>
                </a:solidFill>
              </a:rPr>
              <a:t>goal + model + instructions + tools + state + stop condition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76109F-D1F3-420B-B790-94264159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27F"/>
                </a:solidFill>
              </a:defRPr>
            </a:pPr>
            <a:r>
              <a:rPr sz="750" b="0" i="0">
                <a:solidFill>
                  <a:srgbClr val="66727F"/>
                </a:solidFill>
              </a:rPr>
              <a:t>Concept source: Gruppetta, Anatomy of an Agent (2026). Image: Wikimedia Commons.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132BB6-07B5-4F3F-B07A-A406E97D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2E75B6"/>
                </a:solidFill>
              </a:defRPr>
            </a:pPr>
            <a:r>
              <a:rPr sz="825" b="1" i="0">
                <a:solidFill>
                  <a:srgbClr val="2E75B6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07967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85EDCA-2E3B-4EC1-833C-7D226AF2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E75B6"/>
                </a:solidFill>
              </a:defRPr>
            </a:pPr>
            <a:r>
              <a:rPr sz="825" b="1" i="0">
                <a:solidFill>
                  <a:srgbClr val="2E75B6"/>
                </a:solidFill>
              </a:rPr>
              <a:t>TEB  |  ANATOMY OF AN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01180-7E77-4277-BC4B-720ED693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3A5F"/>
                </a:solidFill>
              </a:defRPr>
            </a:pPr>
            <a:r>
              <a:rPr sz="2550" b="1" i="0">
                <a:solidFill>
                  <a:srgbClr val="163A5F"/>
                </a:solidFill>
              </a:rPr>
              <a:t>The loop turns an answer into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D8E4D-1569-423D-84B8-3EFE80FD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2FA14-E74F-48C1-ACA9-334C5537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5810250" cy="4486275"/>
          </a:xfrm>
          <a:prstGeom xmlns:a="http://schemas.openxmlformats.org/drawingml/2006/main" prst="roundRect">
            <a:avLst>
              <a:gd name="adj" fmla="val 212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da337fb004758"/>
          <a:srcRect xmlns:a="http://schemas.openxmlformats.org/drawingml/2006/main" l="9119" t="0" r="91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1552575"/>
            <a:ext cx="5619750" cy="42957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E37B9B-74C4-483E-B061-7EBD660C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811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E75B6"/>
                </a:solidFill>
              </a:defRPr>
            </a:pPr>
            <a:r>
              <a:rPr sz="900" b="1" i="0">
                <a:solidFill>
                  <a:srgbClr val="2E75B6"/>
                </a:solidFill>
              </a:rPr>
              <a:t>OPERATIONAL FORMULA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E7EEE7-D9AE-482E-B11E-DAE39AA8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3357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66727F"/>
                </a:solidFill>
              </a:defRPr>
            </a:pPr>
            <a:r>
              <a:rPr sz="2100" b="1" i="0">
                <a:solidFill>
                  <a:srgbClr val="66727F"/>
                </a:solidFill>
              </a:rPr>
              <a:t>AGENT =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1A48B8-F889-45EA-833A-B039782A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33575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3A5F"/>
                </a:solidFill>
              </a:defRPr>
            </a:pPr>
            <a:r>
              <a:rPr sz="2550" b="1" i="0">
                <a:solidFill>
                  <a:srgbClr val="163A5F"/>
                </a:solidFill>
              </a:rPr>
              <a:t>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963E94-7FC7-4B08-A07E-0564E8CD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860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65B9E9"/>
                </a:solidFill>
              </a:defRPr>
            </a:pPr>
            <a:r>
              <a:rPr sz="1875" b="1" i="0">
                <a:solidFill>
                  <a:srgbClr val="65B9E9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5BE319-8156-46AE-9D63-2EFD63EF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52A31"/>
                </a:solidFill>
              </a:defRPr>
            </a:pPr>
            <a:r>
              <a:rPr sz="1725" b="1" i="0">
                <a:solidFill>
                  <a:srgbClr val="252A31"/>
                </a:solidFill>
              </a:rPr>
              <a:t>INSTRUCTIONS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93429F-4867-470B-A042-56D6C4C3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76575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4ABEF6-2F99-47BE-93D9-D6810235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6707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65B9E9"/>
                </a:solidFill>
              </a:defRPr>
            </a:pPr>
            <a:r>
              <a:rPr sz="1875" b="1" i="0">
                <a:solidFill>
                  <a:srgbClr val="65B9E9"/>
                </a:solidFill>
              </a:rPr>
              <a:t>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B6225F-B5CD-4D05-A2DD-0245454F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480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52A31"/>
                </a:solidFill>
              </a:defRPr>
            </a:pPr>
            <a:r>
              <a:rPr sz="1725" b="1" i="0">
                <a:solidFill>
                  <a:srgbClr val="252A31"/>
                </a:solidFill>
              </a:rPr>
              <a:t>MEMORY / 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78CB53-E21D-4390-BA9D-A6D7F926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576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E67412-7F05-45A5-B7FC-18992680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8481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65B9E9"/>
                </a:solidFill>
              </a:defRPr>
            </a:pPr>
            <a:r>
              <a:rPr sz="1875" b="1" i="0">
                <a:solidFill>
                  <a:srgbClr val="65B9E9"/>
                </a:solidFill>
              </a:rPr>
              <a:t>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A6373D-C181-4503-857D-6503B098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290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52A31"/>
                </a:solidFill>
              </a:defRPr>
            </a:pPr>
            <a:r>
              <a:rPr sz="1725" b="1" i="0">
                <a:solidFill>
                  <a:srgbClr val="252A31"/>
                </a:solidFill>
              </a:rPr>
              <a:t>TOOLS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81AB98-AEE7-4AC3-A906-E2C76257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38625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ED4238-AED0-44CD-8834-B11F48D2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291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65B9E9"/>
                </a:solidFill>
              </a:defRPr>
            </a:pPr>
            <a:r>
              <a:rPr sz="1875" b="1" i="0">
                <a:solidFill>
                  <a:srgbClr val="65B9E9"/>
                </a:solidFill>
              </a:rPr>
              <a:t>+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A3DF93-6A33-43D2-90F4-B31924A7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100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E75B6"/>
                </a:solidFill>
              </a:defRPr>
            </a:pPr>
            <a:r>
              <a:rPr sz="1725" b="1" i="0">
                <a:solidFill>
                  <a:srgbClr val="2E75B6"/>
                </a:solidFill>
              </a:rPr>
              <a:t>EXECUTION LOOP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E7BF72-E726-40E5-AAD0-D39BD918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19700"/>
            <a:ext cx="4324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057092-E9DB-4437-82B3-9F7389E1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8162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63A5F"/>
                </a:solidFill>
              </a:defRPr>
            </a:pPr>
            <a:r>
              <a:rPr sz="1425" b="1" i="0">
                <a:solidFill>
                  <a:srgbClr val="163A5F"/>
                </a:solidFill>
              </a:rPr>
              <a:t>Without repeat, this is a well-instructed call. It is not goal pursuit.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0A131E-F4EA-4AEF-B2C3-3FF0FB66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27F"/>
                </a:solidFill>
              </a:defRPr>
            </a:pPr>
            <a:r>
              <a:rPr sz="750" b="0" i="0">
                <a:solidFill>
                  <a:srgbClr val="66727F"/>
                </a:solidFill>
              </a:rPr>
              <a:t>Source: Gruppetta, Anatomy of an Agent, 21 Jun 2026.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202C1D-E6BB-4AC3-BA9A-375DF48D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2E75B6"/>
                </a:solidFill>
              </a:defRPr>
            </a:pPr>
            <a:r>
              <a:rPr sz="825" b="1" i="0">
                <a:solidFill>
                  <a:srgbClr val="2E75B6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33388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AAD670-7BA2-4230-8A4C-D0B37FF0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E75B6"/>
                </a:solidFill>
              </a:defRPr>
            </a:pPr>
            <a:r>
              <a:rPr sz="825" b="1" i="0">
                <a:solidFill>
                  <a:srgbClr val="2E75B6"/>
                </a:solidFill>
              </a:rPr>
              <a:t>TEB  |  MODEL + HARNESS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76C7FF-E75D-4F31-B434-2B3B5B4B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3A5F"/>
                </a:solidFill>
              </a:defRPr>
            </a:pPr>
            <a:r>
              <a:rPr sz="2550" b="1" i="0">
                <a:solidFill>
                  <a:srgbClr val="163A5F"/>
                </a:solidFill>
              </a:rPr>
              <a:t>The harness makes the loop operational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281FE4-1CA5-438C-B758-90AF1907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D2A34-5199-478C-9126-699D0A45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6000750" cy="44767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4bc7df03314745"/>
          <a:srcRect xmlns:a="http://schemas.openxmlformats.org/drawingml/2006/main" l="7639" t="0" r="76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1552575"/>
            <a:ext cx="5810250" cy="4286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4B7DD0-3D95-45F2-92F9-12659E54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58115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63A5F"/>
                </a:solidFill>
              </a:defRPr>
            </a:pPr>
            <a:r>
              <a:rPr sz="2175" b="1" i="0">
                <a:solidFill>
                  <a:srgbClr val="163A5F"/>
                </a:solidFill>
              </a:rPr>
              <a:t>AGENT = MODEL + HARNESS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7BA61-4ADA-4B6D-B224-300B65A5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71700"/>
            <a:ext cx="4305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52A31"/>
                </a:solidFill>
              </a:defRPr>
            </a:pPr>
            <a:r>
              <a:rPr sz="1650" b="0" i="0">
                <a:solidFill>
                  <a:srgbClr val="252A31"/>
                </a:solidFill>
              </a:rPr>
              <a:t>The model provides capability. The harness defines observable behavior.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6C6F3D-57DB-4011-8DDB-F8F88328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813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E75B6"/>
                </a:solidFill>
              </a:defRPr>
            </a:pPr>
            <a:r>
              <a:rPr sz="900" b="1" i="0">
                <a:solidFill>
                  <a:srgbClr val="2E75B6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7C2328-33A2-4900-A06E-0FE33463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623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52A31"/>
                </a:solidFill>
              </a:defRPr>
            </a:pPr>
            <a:r>
              <a:rPr sz="1500" b="0" i="0">
                <a:solidFill>
                  <a:srgbClr val="252A31"/>
                </a:solidFill>
              </a:rPr>
              <a:t>prompts, memory, retrieval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79994C-3E88-4A6F-9C97-2AA777E1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86175"/>
            <a:ext cx="430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F99EDB-762C-440C-AD52-BFC92FD0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719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E75B6"/>
                </a:solidFill>
              </a:defRPr>
            </a:pPr>
            <a:r>
              <a:rPr sz="900" b="1" i="0">
                <a:solidFill>
                  <a:srgbClr val="2E75B6"/>
                </a:solidFill>
              </a:rPr>
              <a:t>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A41732-B4DB-4338-B45A-FEBEC072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528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52A31"/>
                </a:solidFill>
              </a:defRPr>
            </a:pPr>
            <a:r>
              <a:rPr sz="1500" b="0" i="0">
                <a:solidFill>
                  <a:srgbClr val="252A31"/>
                </a:solidFill>
              </a:rPr>
              <a:t>tools, code, browser, filesystem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A0A052-6124-4F23-BD12-C6B39B23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76750"/>
            <a:ext cx="430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636AB2-7DEE-4ECC-A500-CB8D225A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62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7668"/>
                </a:solidFill>
              </a:defRPr>
            </a:pPr>
            <a:r>
              <a:rPr sz="900" b="1" i="0">
                <a:solidFill>
                  <a:srgbClr val="2F7668"/>
                </a:solidFill>
              </a:rPr>
              <a:t>CONTROL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7FCD0F-4F4B-4795-BB9E-0E70540C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434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52A31"/>
                </a:solidFill>
              </a:defRPr>
            </a:pPr>
            <a:r>
              <a:rPr sz="1500" b="0" i="0">
                <a:solidFill>
                  <a:srgbClr val="252A31"/>
                </a:solidFill>
              </a:rPr>
              <a:t>orchestration, permissions, logs, limits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EB6FFF-429D-4675-8F99-9EC471D5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27F"/>
                </a:solidFill>
              </a:defRPr>
            </a:pPr>
            <a:r>
              <a:rPr sz="750" b="0" i="0">
                <a:solidFill>
                  <a:srgbClr val="66727F"/>
                </a:solidFill>
              </a:rPr>
              <a:t>Source: Trivedy, The Anatomy of an Agent Harness, LangChain, 10 Mar 2026.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D7040C-FF11-40A8-A92B-1E863734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2E75B6"/>
                </a:solidFill>
              </a:defRPr>
            </a:pPr>
            <a:r>
              <a:rPr sz="825" b="1" i="0">
                <a:solidFill>
                  <a:srgbClr val="2E75B6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777685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DF4E11-2A23-4626-B1A8-09503B0F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E75B6"/>
                </a:solidFill>
              </a:defRPr>
            </a:pPr>
            <a:r>
              <a:rPr sz="825" b="1" i="0">
                <a:solidFill>
                  <a:srgbClr val="2E75B6"/>
                </a:solidFill>
              </a:rPr>
              <a:t>TEB  |  PAPER FOR DISCUSSION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1F2B4-D977-4137-8C6F-F2254498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3A5F"/>
                </a:solidFill>
              </a:defRPr>
            </a:pPr>
            <a:r>
              <a:rPr sz="2550" b="1" i="0">
                <a:solidFill>
                  <a:srgbClr val="163A5F"/>
                </a:solidFill>
              </a:rPr>
              <a:t>CheXagent: ‘agent’ in the name does not prove agentic behavior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8F1032-25F3-44C5-9479-27675BF3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051DD3-0B9C-4B3E-AA18-22F2E252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6191250" cy="4629150"/>
          </a:xfrm>
          <a:prstGeom xmlns:a="http://schemas.openxmlformats.org/drawingml/2006/main" prst="roundRect">
            <a:avLst>
              <a:gd name="adj" fmla="val 2058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f74448ce3247c0"/>
          <a:srcRect xmlns:a="http://schemas.openxmlformats.org/drawingml/2006/main" l="0" t="322" r="0" b="3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1514475"/>
            <a:ext cx="6000750" cy="4476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8DC6D8-491C-4AA3-948C-36BEF3C7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763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44B4B"/>
                </a:solidFill>
              </a:defRPr>
            </a:pPr>
            <a:r>
              <a:rPr sz="900" b="1" i="0">
                <a:solidFill>
                  <a:srgbClr val="B44B4B"/>
                </a:solidFill>
              </a:rPr>
              <a:t>PREPRINT  |  ARXIV 2401.12208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ECEA0E-9250-4D7D-B7A6-B48A644D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809750"/>
            <a:ext cx="419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63A5F"/>
                </a:solidFill>
              </a:defRPr>
            </a:pPr>
            <a:r>
              <a:rPr sz="1875" b="1" i="0">
                <a:solidFill>
                  <a:srgbClr val="163A5F"/>
                </a:solidFill>
              </a:rPr>
              <a:t>It is a multimodal foundation model for chest X-rays.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19A56B-5C21-4301-98A4-166800E1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95575"/>
            <a:ext cx="417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CD6D6C-C87F-4C77-AD75-F50913A5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57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E75B6"/>
                </a:solidFill>
              </a:defRPr>
            </a:pPr>
            <a:r>
              <a:rPr sz="1875" b="1" i="0">
                <a:solidFill>
                  <a:srgbClr val="2E75B6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797385-B09D-4B62-AD85-F4D1AD09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76550"/>
            <a:ext cx="3886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52A31"/>
                </a:solidFill>
              </a:defRPr>
            </a:pPr>
            <a:r>
              <a:rPr sz="1500" b="0" i="0">
                <a:solidFill>
                  <a:srgbClr val="252A31"/>
                </a:solidFill>
              </a:rPr>
              <a:t>Evaluates eight task types in CheXbench.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F716C-AA10-4121-BF8D-660F7CAE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480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E75B6"/>
                </a:solidFill>
              </a:defRPr>
            </a:pPr>
            <a:r>
              <a:rPr sz="1875" b="1" i="0">
                <a:solidFill>
                  <a:srgbClr val="2E75B6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DFB9B2-D695-4D7C-ACA6-EFFC7665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67100"/>
            <a:ext cx="3886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52A31"/>
                </a:solidFill>
              </a:defRPr>
            </a:pPr>
            <a:r>
              <a:rPr sz="1500" b="0" i="0">
                <a:solidFill>
                  <a:srgbClr val="252A31"/>
                </a:solidFill>
              </a:rPr>
              <a:t>Tests report drafts with eight radiologists.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BF49D8-C892-40E6-A1C5-0B3CD9FF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386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E75B6"/>
                </a:solidFill>
              </a:defRPr>
            </a:pPr>
            <a:r>
              <a:rPr sz="1875" b="1" i="0">
                <a:solidFill>
                  <a:srgbClr val="2E75B6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34AE04-9DC0-44E2-93B7-8EC3FB84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057650"/>
            <a:ext cx="3886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52A31"/>
                </a:solidFill>
              </a:defRPr>
            </a:pPr>
            <a:r>
              <a:rPr sz="1500" b="0" i="0">
                <a:solidFill>
                  <a:srgbClr val="252A31"/>
                </a:solidFill>
              </a:rPr>
              <a:t>The abstract does not describe a tool-selection and verification loop.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396122-F55D-4ED4-8408-CB33245C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829175"/>
            <a:ext cx="4171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B71DDA-43DF-42FC-9F05-78A84CEB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9911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89B1D"/>
                </a:solidFill>
              </a:defRPr>
            </a:pPr>
            <a:r>
              <a:rPr sz="900" b="1" i="0">
                <a:solidFill>
                  <a:srgbClr val="D89B1D"/>
                </a:solidFill>
              </a:rPr>
              <a:t>EDITORIAL QUESTION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AB008E-1F63-45FB-BB5C-2DC44409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238750"/>
            <a:ext cx="373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52A31"/>
                </a:solidFill>
              </a:defRPr>
            </a:pPr>
            <a:r>
              <a:rPr sz="1575" b="1" i="0">
                <a:solidFill>
                  <a:srgbClr val="252A31"/>
                </a:solidFill>
              </a:rPr>
              <a:t>Where is the iterative action mechanism?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52EBD1-9751-4514-A4ED-B1492E29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27F"/>
                </a:solidFill>
              </a:defRPr>
            </a:pPr>
            <a:r>
              <a:rPr sz="750" b="0" i="0">
                <a:solidFill>
                  <a:srgbClr val="66727F"/>
                </a:solidFill>
              </a:rPr>
              <a:t>Chen et al. arXiv:2401.12208. Slide status: preprint.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86E9AF-310E-4721-9F92-5971585B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2E75B6"/>
                </a:solidFill>
              </a:defRPr>
            </a:pPr>
            <a:r>
              <a:rPr sz="825" b="1" i="0">
                <a:solidFill>
                  <a:srgbClr val="2E75B6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620740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2FD24E-97CD-4D6D-A3D9-D915AA3B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E75B6"/>
                </a:solidFill>
              </a:defRPr>
            </a:pPr>
            <a:r>
              <a:rPr sz="825" b="1" i="0">
                <a:solidFill>
                  <a:srgbClr val="2E75B6"/>
                </a:solidFill>
              </a:rPr>
              <a:t>TEB  |  PAPER FOR DISCUSSION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03546-1C96-4FFA-92BA-FDDE200B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3A5F"/>
                </a:solidFill>
              </a:defRPr>
            </a:pPr>
            <a:r>
              <a:rPr sz="2550" b="1" i="0">
                <a:solidFill>
                  <a:srgbClr val="163A5F"/>
                </a:solidFill>
              </a:rPr>
              <a:t>MedRAX: the agent orchestrates specialized tools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E7067A-220F-4D7B-BEBD-60946FC3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0772D4-9112-4301-B371-1B828000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6191250" cy="4629150"/>
          </a:xfrm>
          <a:prstGeom xmlns:a="http://schemas.openxmlformats.org/drawingml/2006/main" prst="roundRect">
            <a:avLst>
              <a:gd name="adj" fmla="val 2058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9cad2c4db741f9"/>
          <a:srcRect xmlns:a="http://schemas.openxmlformats.org/drawingml/2006/main" l="0" t="322" r="0" b="3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1514475"/>
            <a:ext cx="6000750" cy="4476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9AB2A-F807-4293-AE18-CE1F94BB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763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7668"/>
                </a:solidFill>
              </a:defRPr>
            </a:pPr>
            <a:r>
              <a:rPr sz="900" b="1" i="0">
                <a:solidFill>
                  <a:srgbClr val="2F7668"/>
                </a:solidFill>
              </a:rPr>
              <a:t>ICML 2025  |  PEER REVIEWED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CE6DF5-1437-4E13-85B6-40971C66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809750"/>
            <a:ext cx="419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63A5F"/>
                </a:solidFill>
              </a:defRPr>
            </a:pPr>
            <a:r>
              <a:rPr sz="1875" b="1" i="0">
                <a:solidFill>
                  <a:srgbClr val="163A5F"/>
                </a:solidFill>
              </a:rPr>
              <a:t>The LLM selects and sequences chest X-ray analysis models.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67F7C5-64A7-4A25-B1E7-D5AF75D1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95575"/>
            <a:ext cx="417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6BE7B8-7F41-4AD8-BFA2-BF8EEE77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57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E75B6"/>
                </a:solidFill>
              </a:defRPr>
            </a:pPr>
            <a:r>
              <a:rPr sz="1875" b="1" i="0">
                <a:solidFill>
                  <a:srgbClr val="2E75B6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369C67-9380-4BBC-8B01-27A2819C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76550"/>
            <a:ext cx="3886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52A31"/>
                </a:solidFill>
              </a:defRPr>
            </a:pPr>
            <a:r>
              <a:rPr sz="1500" b="0" i="0">
                <a:solidFill>
                  <a:srgbClr val="252A31"/>
                </a:solidFill>
              </a:rPr>
              <a:t>Integrates specialized tools and multimodal models.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685B8-14E7-43C0-901D-7A898E51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480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E75B6"/>
                </a:solidFill>
              </a:defRPr>
            </a:pPr>
            <a:r>
              <a:rPr sz="1875" b="1" i="0">
                <a:solidFill>
                  <a:srgbClr val="2E75B6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61C096-04A5-4F85-8735-4AD176AA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67100"/>
            <a:ext cx="3886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52A31"/>
                </a:solidFill>
              </a:defRPr>
            </a:pPr>
            <a:r>
              <a:rPr sz="1500" b="0" i="0">
                <a:solidFill>
                  <a:srgbClr val="252A31"/>
                </a:solidFill>
              </a:rPr>
              <a:t>Acts on complex queries without additional training.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80D1F1-AA43-40B7-A9E2-A7B27077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386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E75B6"/>
                </a:solidFill>
              </a:defRPr>
            </a:pPr>
            <a:r>
              <a:rPr sz="1875" b="1" i="0">
                <a:solidFill>
                  <a:srgbClr val="2E75B6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882EAA-0982-4CEA-AA92-3A1869B9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057650"/>
            <a:ext cx="3886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52A31"/>
                </a:solidFill>
              </a:defRPr>
            </a:pPr>
            <a:r>
              <a:rPr sz="1500" b="0" i="0">
                <a:solidFill>
                  <a:srgbClr val="252A31"/>
                </a:solidFill>
              </a:rPr>
              <a:t>ChestAgentBench: 2,500 queries across seven categories.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7D7C83-9446-4446-B4BB-F93687E2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829175"/>
            <a:ext cx="4171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D15846-67A8-46AD-BBC1-17EE4F9C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9911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89B1D"/>
                </a:solidFill>
              </a:defRPr>
            </a:pPr>
            <a:r>
              <a:rPr sz="900" b="1" i="0">
                <a:solidFill>
                  <a:srgbClr val="D89B1D"/>
                </a:solidFill>
              </a:rPr>
              <a:t>EDITORIAL QUESTION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7FC3F2-4E5E-4F1E-BA50-610F8484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238750"/>
            <a:ext cx="373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52A31"/>
                </a:solidFill>
              </a:defRPr>
            </a:pPr>
            <a:r>
              <a:rPr sz="1575" b="1" i="0">
                <a:solidFill>
                  <a:srgbClr val="252A31"/>
                </a:solidFill>
              </a:rPr>
              <a:t>Does the evaluation measure the system or only the final answer?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567902-E3E1-4620-8E61-73462772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27F"/>
                </a:solidFill>
              </a:defRPr>
            </a:pPr>
            <a:r>
              <a:rPr sz="750" b="0" i="0">
                <a:solidFill>
                  <a:srgbClr val="66727F"/>
                </a:solidFill>
              </a:rPr>
              <a:t>Fallahpour et al. ICML 2025; PMLR 267:15661-15676.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CAD6BF-CAE4-499E-B5A2-77E4E06C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2E75B6"/>
                </a:solidFill>
              </a:defRPr>
            </a:pPr>
            <a:r>
              <a:rPr sz="825" b="1" i="0">
                <a:solidFill>
                  <a:srgbClr val="2E75B6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895081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DF6E23-225B-4C1A-8FBB-1DDCE042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E75B6"/>
                </a:solidFill>
              </a:defRPr>
            </a:pPr>
            <a:r>
              <a:rPr sz="825" b="1" i="0">
                <a:solidFill>
                  <a:srgbClr val="2E75B6"/>
                </a:solidFill>
              </a:rPr>
              <a:t>TEB  |  PAPER FOR DISCUSSION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5AD003-6500-4729-B365-E00B10CB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3A5F"/>
                </a:solidFill>
              </a:defRPr>
            </a:pPr>
            <a:r>
              <a:rPr sz="2550" b="1" i="0">
                <a:solidFill>
                  <a:srgbClr val="163A5F"/>
                </a:solidFill>
              </a:rPr>
              <a:t>RadAgents: radiologist-like decomposition improves auditability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22B8C0-234C-40BC-9D88-871603C2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EF96AA-E575-4B59-B34B-F6985ACA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6191250" cy="4629150"/>
          </a:xfrm>
          <a:prstGeom xmlns:a="http://schemas.openxmlformats.org/drawingml/2006/main" prst="roundRect">
            <a:avLst>
              <a:gd name="adj" fmla="val 2058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da57a9578040eb"/>
          <a:srcRect xmlns:a="http://schemas.openxmlformats.org/drawingml/2006/main" l="0" t="322" r="0" b="3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1514475"/>
            <a:ext cx="6000750" cy="4476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89FB5F-A6A7-4B40-AC19-93D63F7F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763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7668"/>
                </a:solidFill>
              </a:defRPr>
            </a:pPr>
            <a:r>
              <a:rPr sz="900" b="1" i="0">
                <a:solidFill>
                  <a:srgbClr val="2F7668"/>
                </a:solidFill>
              </a:rPr>
              <a:t>MIDL 2026  |  PEER REVIEWED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412842-8574-4DE6-82A6-C9E3FE46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809750"/>
            <a:ext cx="419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63A5F"/>
                </a:solidFill>
              </a:defRPr>
            </a:pPr>
            <a:r>
              <a:rPr sz="1875" b="1" i="0">
                <a:solidFill>
                  <a:srgbClr val="163A5F"/>
                </a:solidFill>
              </a:rPr>
              <a:t>Seven agents encode a radiologist-like workflow.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6008D3-F8BA-43C2-A203-08499CD7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95575"/>
            <a:ext cx="417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7A84C-F55B-4ED9-B8B7-6819A81B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57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E75B6"/>
                </a:solidFill>
              </a:defRPr>
            </a:pPr>
            <a:r>
              <a:rPr sz="1875" b="1" i="0">
                <a:solidFill>
                  <a:srgbClr val="2E75B6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B5E90A-B33C-4D43-96C7-6B90EF99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76550"/>
            <a:ext cx="3886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52A31"/>
                </a:solidFill>
              </a:defRPr>
            </a:pPr>
            <a:r>
              <a:rPr sz="1500" b="0" i="0">
                <a:solidFill>
                  <a:srgbClr val="252A31"/>
                </a:solidFill>
              </a:rPr>
              <a:t>Five ABCDE subagents, plus Orchestrator and Synthesizer.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8DBA91-6BD1-4DE6-8BBB-CC84875B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480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E75B6"/>
                </a:solidFill>
              </a:defRPr>
            </a:pPr>
            <a:r>
              <a:rPr sz="1875" b="1" i="0">
                <a:solidFill>
                  <a:srgbClr val="2E75B6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76A645-4E4A-4451-AE44-61E3E9B1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67100"/>
            <a:ext cx="3886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52A31"/>
                </a:solidFill>
              </a:defRPr>
            </a:pPr>
            <a:r>
              <a:rPr sz="1500" b="0" i="0">
                <a:solidFill>
                  <a:srgbClr val="252A31"/>
                </a:solidFill>
              </a:rPr>
              <a:t>Integrates grounding, retrieval, and conflict resolution.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21EA17-8064-4BCE-B9DA-FB3D1329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386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E75B6"/>
                </a:solidFill>
              </a:defRPr>
            </a:pPr>
            <a:r>
              <a:rPr sz="1875" b="1" i="0">
                <a:solidFill>
                  <a:srgbClr val="2E75B6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CF2221-D01E-46E7-910F-AD73C22D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057650"/>
            <a:ext cx="3886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52A31"/>
                </a:solidFill>
              </a:defRPr>
            </a:pPr>
            <a:r>
              <a:rPr sz="1500" b="0" i="0">
                <a:solidFill>
                  <a:srgbClr val="252A31"/>
                </a:solidFill>
              </a:rPr>
              <a:t>Keeps intermediate artifacts for inspection of the trajectory.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510E66-9929-448F-AD18-D8E22118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829175"/>
            <a:ext cx="4171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C11243-E988-4654-A11D-AE71A7B8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9911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89B1D"/>
                </a:solidFill>
              </a:defRPr>
            </a:pPr>
            <a:r>
              <a:rPr sz="900" b="1" i="0">
                <a:solidFill>
                  <a:srgbClr val="D89B1D"/>
                </a:solidFill>
              </a:rPr>
              <a:t>EDITORIAL QUESTION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3D5015-2013-4BF6-BE34-3F051138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238750"/>
            <a:ext cx="373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52A31"/>
                </a:solidFill>
              </a:defRPr>
            </a:pPr>
            <a:r>
              <a:rPr sz="1575" b="1" i="0">
                <a:solidFill>
                  <a:srgbClr val="252A31"/>
                </a:solidFill>
              </a:rPr>
              <a:t>Does traceability explain, or merely narrate?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09F3DF-935D-46A1-A5DA-900B7E78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27F"/>
                </a:solidFill>
              </a:defRPr>
            </a:pPr>
            <a:r>
              <a:rPr sz="750" b="0" i="0">
                <a:solidFill>
                  <a:srgbClr val="66727F"/>
                </a:solidFill>
              </a:rPr>
              <a:t>Zhang et al. MIDL 2026; PMLR 315:3496-3519.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6BF13C-8BA1-423B-A821-04D943FE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2E75B6"/>
                </a:solidFill>
              </a:defRPr>
            </a:pPr>
            <a:r>
              <a:rPr sz="825" b="1" i="0">
                <a:solidFill>
                  <a:srgbClr val="2E75B6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478470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43FFA0-4E32-4E48-91D3-081AF8A7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E75B6"/>
                </a:solidFill>
              </a:defRPr>
            </a:pPr>
            <a:r>
              <a:rPr sz="825" b="1" i="0">
                <a:solidFill>
                  <a:srgbClr val="2E75B6"/>
                </a:solidFill>
              </a:rPr>
              <a:t>TEB  |  PAPER FOR DISCUSSION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DFE281-F5D6-425F-BAB1-4591186A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3A5F"/>
                </a:solidFill>
              </a:defRPr>
            </a:pPr>
            <a:r>
              <a:rPr sz="2550" b="1" i="0">
                <a:solidFill>
                  <a:srgbClr val="163A5F"/>
                </a:solidFill>
              </a:rPr>
              <a:t>RadFabric: many models, one orchestration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A1F563-672B-4445-B4D6-9C6DC44F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4041B2-E8C9-4014-89FC-D3EFC189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6191250" cy="4629150"/>
          </a:xfrm>
          <a:prstGeom xmlns:a="http://schemas.openxmlformats.org/drawingml/2006/main" prst="roundRect">
            <a:avLst>
              <a:gd name="adj" fmla="val 2058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3a7ab28bba402b"/>
          <a:stretch xmlns:a="http://schemas.openxmlformats.org/drawingml/2006/main"/>
        </p:blipFill>
        <p:spPr>
          <a:xfrm xmlns:a="http://schemas.openxmlformats.org/drawingml/2006/main">
            <a:off x="742950" y="1877616"/>
            <a:ext cx="6000750" cy="375046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67E447-01F8-45D6-BFB2-D8A7FFF3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763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7668"/>
                </a:solidFill>
              </a:defRPr>
            </a:pPr>
            <a:r>
              <a:rPr sz="900" b="1" i="0">
                <a:solidFill>
                  <a:srgbClr val="2F7668"/>
                </a:solidFill>
              </a:rPr>
              <a:t>NPJ DIGITAL MEDICINE 2026  |  PEER REVIEWED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58314-AA17-489F-86A0-74DE7BCB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809750"/>
            <a:ext cx="419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63A5F"/>
                </a:solidFill>
              </a:defRPr>
            </a:pPr>
            <a:r>
              <a:rPr sz="1875" b="1" i="0">
                <a:solidFill>
                  <a:srgbClr val="163A5F"/>
                </a:solidFill>
              </a:rPr>
              <a:t>The system integrates heterogeneous and potentially conflicting outputs.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12B2C6-16D8-43AA-9899-B60D9451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95575"/>
            <a:ext cx="417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4B8055-18AC-4918-B6A7-AAAC7F55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57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E75B6"/>
                </a:solidFill>
              </a:defRPr>
            </a:pPr>
            <a:r>
              <a:rPr sz="1875" b="1" i="0">
                <a:solidFill>
                  <a:srgbClr val="2E75B6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BF1036-B9F0-4302-BD6C-6A35F983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76550"/>
            <a:ext cx="3886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52A31"/>
                </a:solidFill>
              </a:defRPr>
            </a:pPr>
            <a:r>
              <a:rPr sz="1500" b="0" i="0">
                <a:solidFill>
                  <a:srgbClr val="252A31"/>
                </a:solidFill>
              </a:rPr>
              <a:t>Orchestrates 14 chest X-ray analytical models and two VLMs.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ED0E40-1D00-44B2-9578-FD64B441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480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E75B6"/>
                </a:solidFill>
              </a:defRPr>
            </a:pPr>
            <a:r>
              <a:rPr sz="1875" b="1" i="0">
                <a:solidFill>
                  <a:srgbClr val="2E75B6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70CAB7-CC96-4E35-AA41-455B8C27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67100"/>
            <a:ext cx="3886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52A31"/>
                </a:solidFill>
              </a:defRPr>
            </a:pPr>
            <a:r>
              <a:rPr sz="1500" b="0" i="0">
                <a:solidFill>
                  <a:srgbClr val="252A31"/>
                </a:solidFill>
              </a:rPr>
              <a:t>One agent anchors findings to anatomy.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987889-9D2C-4488-889F-1550CD75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386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E75B6"/>
                </a:solidFill>
              </a:defRPr>
            </a:pPr>
            <a:r>
              <a:rPr sz="1875" b="1" i="0">
                <a:solidFill>
                  <a:srgbClr val="2E75B6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17AB51-CD3C-4A2E-B596-22918C8F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057650"/>
            <a:ext cx="3886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52A31"/>
                </a:solidFill>
              </a:defRPr>
            </a:pPr>
            <a:r>
              <a:rPr sz="1500" b="0" i="0">
                <a:solidFill>
                  <a:srgbClr val="252A31"/>
                </a:solidFill>
              </a:rPr>
              <a:t>Another agent synthesizes signals into a single output.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9FBC9D-F063-407E-8155-E376136D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829175"/>
            <a:ext cx="4171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1D5A2B-ECAD-408E-9585-7039D0EC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9911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89B1D"/>
                </a:solidFill>
              </a:defRPr>
            </a:pPr>
            <a:r>
              <a:rPr sz="900" b="1" i="0">
                <a:solidFill>
                  <a:srgbClr val="D89B1D"/>
                </a:solidFill>
              </a:rPr>
              <a:t>EDITORIAL QUESTION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EB6488-4173-4AF8-A60A-84769A04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238750"/>
            <a:ext cx="373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52A31"/>
                </a:solidFill>
              </a:defRPr>
            </a:pPr>
            <a:r>
              <a:rPr sz="1575" b="1" i="0">
                <a:solidFill>
                  <a:srgbClr val="252A31"/>
                </a:solidFill>
              </a:rPr>
              <a:t>How should each component and the composed error be validated?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09924B-DDE5-4B9E-89B1-08C05D16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27F"/>
                </a:solidFill>
              </a:defRPr>
            </a:pPr>
            <a:r>
              <a:rPr sz="750" b="0" i="0">
                <a:solidFill>
                  <a:srgbClr val="66727F"/>
                </a:solidFill>
              </a:rPr>
              <a:t>Chen et al. npj Digital Medicine, 15 Jul 2026. DOI 10.1038/s41746-026-02994-8.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A5F76A-8D85-49E3-98DB-C7EB764A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2E75B6"/>
                </a:solidFill>
              </a:defRPr>
            </a:pPr>
            <a:r>
              <a:rPr sz="825" b="1" i="0">
                <a:solidFill>
                  <a:srgbClr val="2E75B6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784271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0071D9-A160-4496-B1FC-8B9D8877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E75B6"/>
                </a:solidFill>
              </a:defRPr>
            </a:pPr>
            <a:r>
              <a:rPr sz="825" b="1" i="0">
                <a:solidFill>
                  <a:srgbClr val="2E75B6"/>
                </a:solidFill>
              </a:rPr>
              <a:t>TEB  |  PAPER FOR DISCUSSION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94C1A3-AADB-41A7-9B00-42394D4E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3A5F"/>
                </a:solidFill>
              </a:defRPr>
            </a:pPr>
            <a:r>
              <a:rPr sz="2550" b="1" i="0">
                <a:solidFill>
                  <a:srgbClr val="163A5F"/>
                </a:solidFill>
              </a:rPr>
              <a:t>CARE-X: tool use in one component does not make the whole system agentic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683077-ECBE-417B-BC76-8CA327C7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5A6EF7-C23B-4BFD-B297-32D5613A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6191250" cy="4629150"/>
          </a:xfrm>
          <a:prstGeom xmlns:a="http://schemas.openxmlformats.org/drawingml/2006/main" prst="roundRect">
            <a:avLst>
              <a:gd name="adj" fmla="val 2058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5422b071b04488"/>
          <a:srcRect xmlns:a="http://schemas.openxmlformats.org/drawingml/2006/main" l="0" t="322" r="0" b="3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1514475"/>
            <a:ext cx="6000750" cy="4476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87244B-1C7B-44B4-B799-D6272F5F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763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44B4B"/>
                </a:solidFill>
              </a:defRPr>
            </a:pPr>
            <a:r>
              <a:rPr sz="900" b="1" i="0">
                <a:solidFill>
                  <a:srgbClr val="B44B4B"/>
                </a:solidFill>
              </a:rPr>
              <a:t>PREPRINT  |  4 AUG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D7CFDB-A02A-484C-9D3F-A02764AC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809750"/>
            <a:ext cx="419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63A5F"/>
                </a:solidFill>
              </a:defRPr>
            </a:pPr>
            <a:r>
              <a:rPr sz="1875" b="1" i="0">
                <a:solidFill>
                  <a:srgbClr val="163A5F"/>
                </a:solidFill>
              </a:rPr>
              <a:t>The core is a VLM with auxiliary supervision and reward alignment.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5767E2-6DA5-4EDF-AA02-0CE02647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95575"/>
            <a:ext cx="417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DE7E50-7F16-4DFA-A64B-D6A27995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57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E75B6"/>
                </a:solidFill>
              </a:defRPr>
            </a:pPr>
            <a:r>
              <a:rPr sz="1875" b="1" i="0">
                <a:solidFill>
                  <a:srgbClr val="2E75B6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F0FC2C-320A-4863-81C0-670ACAD5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76550"/>
            <a:ext cx="3886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52A31"/>
                </a:solidFill>
              </a:defRPr>
            </a:pPr>
            <a:r>
              <a:rPr sz="1500" b="0" i="0">
                <a:solidFill>
                  <a:srgbClr val="252A31"/>
                </a:solidFill>
              </a:rPr>
              <a:t>Classification and grounding heads complement generation.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D279A2-B30B-4C76-AF02-D399D092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480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E75B6"/>
                </a:solidFill>
              </a:defRPr>
            </a:pPr>
            <a:r>
              <a:rPr sz="1875" b="1" i="0">
                <a:solidFill>
                  <a:srgbClr val="2E75B6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A2BC8F-4F3A-45CD-958E-5368B218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67100"/>
            <a:ext cx="3886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52A31"/>
                </a:solidFill>
              </a:defRPr>
            </a:pPr>
            <a:r>
              <a:rPr sz="1500" b="0" i="0">
                <a:solidFill>
                  <a:srgbClr val="252A31"/>
                </a:solidFill>
              </a:rPr>
              <a:t>Optimization uses task-specific rewards.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89651D-0C76-4B6E-B505-01A9EE12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386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E75B6"/>
                </a:solidFill>
              </a:defRPr>
            </a:pPr>
            <a:r>
              <a:rPr sz="1875" b="1" i="0">
                <a:solidFill>
                  <a:srgbClr val="2E75B6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938979-270A-4714-8177-149B0CF9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057650"/>
            <a:ext cx="3886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52A31"/>
                </a:solidFill>
              </a:defRPr>
            </a:pPr>
            <a:r>
              <a:rPr sz="1500" b="0" i="0">
                <a:solidFill>
                  <a:srgbClr val="252A31"/>
                </a:solidFill>
              </a:rPr>
              <a:t>Measurement tools appear separately in measurement-dependent tasks.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96CA51-B023-4D79-93C8-C48D807F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829175"/>
            <a:ext cx="4171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022562-0338-43AD-8656-239B0A25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9911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89B1D"/>
                </a:solidFill>
              </a:defRPr>
            </a:pPr>
            <a:r>
              <a:rPr sz="900" b="1" i="0">
                <a:solidFill>
                  <a:srgbClr val="D89B1D"/>
                </a:solidFill>
              </a:rPr>
              <a:t>EDITORIAL QUESTION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926955-BBB5-4CB8-A4C5-BC6D8959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238750"/>
            <a:ext cx="373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52A31"/>
                </a:solidFill>
              </a:defRPr>
            </a:pPr>
            <a:r>
              <a:rPr sz="1575" b="1" i="0">
                <a:solidFill>
                  <a:srgbClr val="252A31"/>
                </a:solidFill>
              </a:rPr>
              <a:t>What was evaluated: the VLM, tool calling, or the pipeline?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D738CD-ACBD-4B4F-8385-5B6F848E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27F"/>
                </a:solidFill>
              </a:defRPr>
            </a:pPr>
            <a:r>
              <a:rPr sz="750" b="0" i="0">
                <a:solidFill>
                  <a:srgbClr val="66727F"/>
                </a:solidFill>
              </a:rPr>
              <a:t>Ranjit et al. CARE-X. arXiv:2608.03890. Slide status: preprint.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C669B3-9511-49EF-AC8B-F84CD20A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2E75B6"/>
                </a:solidFill>
              </a:defRPr>
            </a:pPr>
            <a:r>
              <a:rPr sz="825" b="1" i="0">
                <a:solidFill>
                  <a:srgbClr val="2E75B6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172238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D8886F-3FA3-4488-90FE-9F015828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E75B6"/>
                </a:solidFill>
              </a:defRPr>
            </a:pPr>
            <a:r>
              <a:rPr sz="825" b="1" i="0">
                <a:solidFill>
                  <a:srgbClr val="2E75B6"/>
                </a:solidFill>
              </a:rPr>
              <a:t>TEB  |  CLOSING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0B842-5163-4596-9E42-DFC4635F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3A5F"/>
                </a:solidFill>
              </a:defRPr>
            </a:pPr>
            <a:r>
              <a:rPr sz="2550" b="1" i="0">
                <a:solidFill>
                  <a:srgbClr val="163A5F"/>
                </a:solidFill>
              </a:rPr>
              <a:t>The editorial question has changed: what did the system do, with which tools, and under what limits?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33E46D-A01E-43C9-800F-0B4442CB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8E868C-578E-4742-98CE-A1A8FAB5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966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61820A-4CD6-4FA2-AF11-B19F1994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E75B6"/>
                </a:solidFill>
              </a:defRPr>
            </a:pPr>
            <a:r>
              <a:rPr sz="900" b="1" i="0">
                <a:solidFill>
                  <a:srgbClr val="2E75B6"/>
                </a:solidFill>
              </a:rPr>
              <a:t>RESEARCH FRONTIERS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6DE337-8B0C-4B58-8B2E-F1C283D6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8597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E75B6"/>
                </a:solidFill>
              </a:defRPr>
            </a:pPr>
            <a:r>
              <a:rPr sz="1200" b="1" i="0">
                <a:solidFill>
                  <a:srgbClr val="2E75B6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612803-CD0F-4BD2-B1A4-C65B105F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47875"/>
            <a:ext cx="442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63A5F"/>
                </a:solidFill>
              </a:defRPr>
            </a:pPr>
            <a:r>
              <a:rPr sz="1500" b="1" i="0">
                <a:solidFill>
                  <a:srgbClr val="163A5F"/>
                </a:solidFill>
              </a:rPr>
              <a:t>trajectory benchmarks, not only final answers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8AEFEE-05AA-4E7D-887D-B2B0FC46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08597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E75B6"/>
                </a:solidFill>
              </a:defRPr>
            </a:pPr>
            <a:r>
              <a:rPr sz="1200" b="1" i="0">
                <a:solidFill>
                  <a:srgbClr val="2E75B6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812566-A8A7-4844-A453-EC5B52D7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047875"/>
            <a:ext cx="442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63A5F"/>
                </a:solidFill>
              </a:defRPr>
            </a:pPr>
            <a:r>
              <a:rPr sz="1500" b="1" i="0">
                <a:solidFill>
                  <a:srgbClr val="163A5F"/>
                </a:solidFill>
              </a:rPr>
              <a:t>composed error and tool-selection failures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96185E-B6B1-4835-A66D-55C667CF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051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E75B6"/>
                </a:solidFill>
              </a:defRPr>
            </a:pPr>
            <a:r>
              <a:rPr sz="1200" b="1" i="0">
                <a:solidFill>
                  <a:srgbClr val="2E75B6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1961FB-723A-4181-A56A-24463029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67000"/>
            <a:ext cx="442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63A5F"/>
                </a:solidFill>
              </a:defRPr>
            </a:pPr>
            <a:r>
              <a:rPr sz="1500" b="1" i="0">
                <a:solidFill>
                  <a:srgbClr val="163A5F"/>
                </a:solidFill>
              </a:rPr>
              <a:t>human–agent interaction and escalation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B9AC08-37A1-47A8-9A83-D4B55890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7051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E75B6"/>
                </a:solidFill>
              </a:defRPr>
            </a:pPr>
            <a:r>
              <a:rPr sz="1200" b="1" i="0">
                <a:solidFill>
                  <a:srgbClr val="2E75B6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B1FFB1-45F9-40EA-A969-F100C4A4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667000"/>
            <a:ext cx="442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63A5F"/>
                </a:solidFill>
              </a:defRPr>
            </a:pPr>
            <a:r>
              <a:rPr sz="1500" b="1" i="0">
                <a:solidFill>
                  <a:srgbClr val="163A5F"/>
                </a:solidFill>
              </a:rPr>
              <a:t>external, prospective, workflow-aware 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98973D-9235-4BA6-BBB1-09EEC8C3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766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7668"/>
                </a:solidFill>
              </a:defRPr>
            </a:pPr>
            <a:r>
              <a:rPr sz="900" b="1" i="0">
                <a:solidFill>
                  <a:srgbClr val="2F7668"/>
                </a:solidFill>
              </a:rPr>
              <a:t>REVIEWER CHECKLIST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FC7816-42BE-4255-BB99-19E70EDE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1866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DB234C-56F2-4307-A2A1-2FCA5F02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E75B6"/>
                </a:solidFill>
              </a:defRPr>
            </a:pPr>
            <a:r>
              <a:rPr sz="975" b="1" i="0">
                <a:solidFill>
                  <a:srgbClr val="2E75B6"/>
                </a:solidFill>
              </a:rPr>
              <a:t>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E50489-84EA-4A6B-B3E4-20761497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52975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52A31"/>
                </a:solidFill>
              </a:defRPr>
            </a:pPr>
            <a:r>
              <a:rPr sz="1350" b="1" i="0">
                <a:solidFill>
                  <a:srgbClr val="252A31"/>
                </a:solidFill>
              </a:rPr>
              <a:t>who chooses the next step?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7D376E-F7FA-43A6-A3CB-D55E0E04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286250"/>
            <a:ext cx="1866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B50048-5713-48D5-B599-9734B74C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4386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E75B6"/>
                </a:solidFill>
              </a:defRPr>
            </a:pPr>
            <a:r>
              <a:rPr sz="975" b="1" i="0">
                <a:solidFill>
                  <a:srgbClr val="2E75B6"/>
                </a:solidFill>
              </a:rPr>
              <a:t>TOOLS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02C4CA-9461-4D83-949A-2722059B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752975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52A31"/>
                </a:solidFill>
              </a:defRPr>
            </a:pPr>
            <a:r>
              <a:rPr sz="1350" b="1" i="0">
                <a:solidFill>
                  <a:srgbClr val="252A31"/>
                </a:solidFill>
              </a:rPr>
              <a:t>what can act, and with which permissions?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96CF45-D037-43B9-BF9E-5009FC55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286250"/>
            <a:ext cx="1866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66FC71-0EB8-4CB2-B866-25D855E4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386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E75B6"/>
                </a:solidFill>
              </a:defRPr>
            </a:pPr>
            <a:r>
              <a:rPr sz="975" b="1" i="0">
                <a:solidFill>
                  <a:srgbClr val="2E75B6"/>
                </a:solidFill>
              </a:rPr>
              <a:t>STATE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445197-F822-481D-ADF6-E12B6032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752975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52A31"/>
                </a:solidFill>
              </a:defRPr>
            </a:pPr>
            <a:r>
              <a:rPr sz="1350" b="1" i="0">
                <a:solidFill>
                  <a:srgbClr val="252A31"/>
                </a:solidFill>
              </a:rPr>
              <a:t>what persists across steps and cases?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CEBB8E-0BC5-49F8-BFB3-53746A0B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286250"/>
            <a:ext cx="1866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51ECB8-3F65-4634-8EEF-1107BC82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4386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E75B6"/>
                </a:solidFill>
              </a:defRPr>
            </a:pPr>
            <a:r>
              <a:rPr sz="975" b="1" i="0">
                <a:solidFill>
                  <a:srgbClr val="2E75B6"/>
                </a:solidFill>
              </a:rPr>
              <a:t>STOP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C00BB6-26BD-4353-AEE6-1367EF8F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752975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52A31"/>
                </a:solidFill>
              </a:defRPr>
            </a:pPr>
            <a:r>
              <a:rPr sz="1350" b="1" i="0">
                <a:solidFill>
                  <a:srgbClr val="252A31"/>
                </a:solidFill>
              </a:rPr>
              <a:t>how does the loop end or escalate?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28394C-DFD8-487B-81CD-FEBB4C49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286250"/>
            <a:ext cx="1866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6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F29DA1-2207-4377-A84C-FD954C0E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4386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F7668"/>
                </a:solidFill>
              </a:defRPr>
            </a:pPr>
            <a:r>
              <a:rPr sz="975" b="1" i="0">
                <a:solidFill>
                  <a:srgbClr val="2F7668"/>
                </a:solidFill>
              </a:rPr>
              <a:t>EVALUATION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9D500C-8DF3-463C-9215-9A5822E8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752975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52A31"/>
                </a:solidFill>
              </a:defRPr>
            </a:pPr>
            <a:r>
              <a:rPr sz="1350" b="1" i="0">
                <a:solidFill>
                  <a:srgbClr val="252A31"/>
                </a:solidFill>
              </a:rPr>
              <a:t>trajectory, safety, cost, and utility?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EFB646-3085-4F45-90A6-5AA3B0D5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81675"/>
            <a:ext cx="10896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E822D6-3BBF-40FC-805C-CC3D5793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1051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The model provides capability. The harness defines behavior.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EC3A89-D37E-49EC-BB09-1834CDE4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27F"/>
                </a:solidFill>
              </a:defRPr>
            </a:pPr>
            <a:r>
              <a:rPr sz="750" b="0" i="0">
                <a:solidFill>
                  <a:srgbClr val="66727F"/>
                </a:solidFill>
              </a:rPr>
              <a:t>Synthesis for editorial discussion. CLAIM 2024: DOI 10.1148/ryai.240300.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5D71D7-C5F8-4094-8B63-ABDCA74C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2E75B6"/>
                </a:solidFill>
              </a:defRPr>
            </a:pPr>
            <a:r>
              <a:rPr sz="825" b="1" i="0">
                <a:solidFill>
                  <a:srgbClr val="2E75B6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355582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2026-08-17T13:30:16.5550000Z</dcterms:created>
  <dcterms:modified xsi:type="dcterms:W3CDTF">2026-08-17T13:30:16.5550000Z</dcterms:modified>
</coreProperties>
</file>